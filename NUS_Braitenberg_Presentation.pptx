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Stage 1 — Pure Braitenberg</c:v>
                </c:pt>
              </c:strCache>
            </c:strRef>
          </c:tx>
          <c:spPr>
            <a:solidFill>
              <a:srgbClr val="E24B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  <c:pt idx="6">
                    <c:v>30%</c:v>
                  </c:pt>
                  <c:pt idx="7">
                    <c:v>40%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100</c:v>
                </c:pt>
                <c:pt idx="1">
                  <c:v>90</c:v>
                </c:pt>
                <c:pt idx="2">
                  <c:v>60</c:v>
                </c:pt>
                <c:pt idx="3">
                  <c:v>35</c:v>
                </c:pt>
                <c:pt idx="4">
                  <c:v>10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Stage 2 — RL Adaptive Weights</c:v>
                </c:pt>
              </c:strCache>
            </c:strRef>
          </c:tx>
          <c:spPr>
            <a:solidFill>
              <a:srgbClr val="3B8B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  <c:pt idx="6">
                    <c:v>30%</c:v>
                  </c:pt>
                  <c:pt idx="7">
                    <c:v>40%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100</c:v>
                </c:pt>
                <c:pt idx="1">
                  <c:v>80</c:v>
                </c:pt>
                <c:pt idx="2">
                  <c:v>65</c:v>
                </c:pt>
                <c:pt idx="3">
                  <c:v>20</c:v>
                </c:pt>
                <c:pt idx="4">
                  <c:v>5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Stage 3 — Improved + RL</c:v>
                </c:pt>
              </c:strCache>
            </c:strRef>
          </c:tx>
          <c:spPr>
            <a:solidFill>
              <a:srgbClr val="1D9E7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  <c:pt idx="6">
                    <c:v>30%</c:v>
                  </c:pt>
                  <c:pt idx="7">
                    <c:v>40%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80</c:v>
                </c:pt>
                <c:pt idx="3">
                  <c:v>80</c:v>
                </c:pt>
                <c:pt idx="4">
                  <c:v>55</c:v>
                </c:pt>
                <c:pt idx="5">
                  <c:v>20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Stage 4 — Improved, No RL</c:v>
                </c:pt>
              </c:strCache>
            </c:strRef>
          </c:tx>
          <c:spPr>
            <a:solidFill>
              <a:srgbClr val="EF9F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  <c:pt idx="6">
                    <c:v>30%</c:v>
                  </c:pt>
                  <c:pt idx="7">
                    <c:v>40%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100</c:v>
                </c:pt>
                <c:pt idx="1">
                  <c:v>100</c:v>
                </c:pt>
                <c:pt idx="2">
                  <c:v>85</c:v>
                </c:pt>
                <c:pt idx="3">
                  <c:v>90</c:v>
                </c:pt>
                <c:pt idx="4">
                  <c:v>55</c:v>
                </c:pt>
                <c:pt idx="5">
                  <c:v>40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Stage 1</c:v>
                </c:pt>
              </c:strCache>
            </c:strRef>
          </c:tx>
          <c:spPr>
            <a:solidFill>
              <a:srgbClr val="E24B4A"/>
            </a:solidFill>
            <a:ln w="25400" cap="flat">
              <a:solidFill>
                <a:srgbClr val="E24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  <c:pt idx="6">
                    <c:v>30%</c:v>
                  </c:pt>
                  <c:pt idx="7">
                    <c:v>40%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955</c:v>
                </c:pt>
                <c:pt idx="1">
                  <c:v>1454</c:v>
                </c:pt>
                <c:pt idx="2">
                  <c:v>2679</c:v>
                </c:pt>
                <c:pt idx="3">
                  <c:v>3277</c:v>
                </c:pt>
                <c:pt idx="4">
                  <c:v>3902</c:v>
                </c:pt>
                <c:pt idx="5">
                  <c:v>4000</c:v>
                </c:pt>
                <c:pt idx="6">
                  <c:v>4000</c:v>
                </c:pt>
                <c:pt idx="7">
                  <c:v>4000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Stage 2</c:v>
                </c:pt>
              </c:strCache>
            </c:strRef>
          </c:tx>
          <c:spPr>
            <a:solidFill>
              <a:srgbClr val="3B8BD4"/>
            </a:solidFill>
            <a:ln w="25400" cap="flat">
              <a:solidFill>
                <a:srgbClr val="3B8B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BD4"/>
              </a:solidFill>
              <a:ln w="9525" cap="flat">
                <a:solidFill>
                  <a:srgbClr val="3B8B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  <c:pt idx="6">
                    <c:v>30%</c:v>
                  </c:pt>
                  <c:pt idx="7">
                    <c:v>40%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1072</c:v>
                </c:pt>
                <c:pt idx="1">
                  <c:v>1892</c:v>
                </c:pt>
                <c:pt idx="2">
                  <c:v>2690</c:v>
                </c:pt>
                <c:pt idx="3">
                  <c:v>3638</c:v>
                </c:pt>
                <c:pt idx="4">
                  <c:v>3952</c:v>
                </c:pt>
                <c:pt idx="5">
                  <c:v>4000</c:v>
                </c:pt>
                <c:pt idx="6">
                  <c:v>4000</c:v>
                </c:pt>
                <c:pt idx="7">
                  <c:v>4000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Stage 3</c:v>
                </c:pt>
              </c:strCache>
            </c:strRef>
          </c:tx>
          <c:spPr>
            <a:solidFill>
              <a:srgbClr val="1D9E75"/>
            </a:solidFill>
            <a:ln w="25400" cap="flat">
              <a:solidFill>
                <a:srgbClr val="1D9E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  <c:pt idx="6">
                    <c:v>30%</c:v>
                  </c:pt>
                  <c:pt idx="7">
                    <c:v>40%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869</c:v>
                </c:pt>
                <c:pt idx="1">
                  <c:v>893</c:v>
                </c:pt>
                <c:pt idx="2">
                  <c:v>1853</c:v>
                </c:pt>
                <c:pt idx="3">
                  <c:v>2089</c:v>
                </c:pt>
                <c:pt idx="4">
                  <c:v>3314</c:v>
                </c:pt>
                <c:pt idx="5">
                  <c:v>3509</c:v>
                </c:pt>
                <c:pt idx="6">
                  <c:v>4000</c:v>
                </c:pt>
                <c:pt idx="7">
                  <c:v>4000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Stage 4</c:v>
                </c:pt>
              </c:strCache>
            </c:strRef>
          </c:tx>
          <c:spPr>
            <a:solidFill>
              <a:srgbClr val="EF9F27"/>
            </a:solidFill>
            <a:ln w="25400" cap="flat">
              <a:solidFill>
                <a:srgbClr val="EF9F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9F27"/>
              </a:solidFill>
              <a:ln w="9525" cap="flat">
                <a:solidFill>
                  <a:srgbClr val="EF9F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  <c:pt idx="6">
                    <c:v>30%</c:v>
                  </c:pt>
                  <c:pt idx="7">
                    <c:v>40%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862</c:v>
                </c:pt>
                <c:pt idx="1">
                  <c:v>867</c:v>
                </c:pt>
                <c:pt idx="2">
                  <c:v>1733</c:v>
                </c:pt>
                <c:pt idx="3">
                  <c:v>1816</c:v>
                </c:pt>
                <c:pt idx="4">
                  <c:v>3044</c:v>
                </c:pt>
                <c:pt idx="5">
                  <c:v>3078</c:v>
                </c:pt>
                <c:pt idx="6">
                  <c:v>4000</c:v>
                </c:pt>
                <c:pt idx="7">
                  <c:v>4000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200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Stage 1</c:v>
                </c:pt>
              </c:strCache>
            </c:strRef>
          </c:tx>
          <c:spPr>
            <a:solidFill>
              <a:srgbClr val="E24B4A"/>
            </a:solidFill>
            <a:ln w="25400" cap="flat">
              <a:solidFill>
                <a:srgbClr val="E24B4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24B4A"/>
              </a:solidFill>
              <a:ln w="9525" cap="flat">
                <a:solidFill>
                  <a:srgbClr val="E24B4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  <c:pt idx="6">
                    <c:v>30%</c:v>
                  </c:pt>
                  <c:pt idx="7">
                    <c:v>40%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</c:v>
                </c:pt>
                <c:pt idx="1">
                  <c:v>210</c:v>
                </c:pt>
                <c:pt idx="2">
                  <c:v>138</c:v>
                </c:pt>
                <c:pt idx="3">
                  <c:v>429</c:v>
                </c:pt>
                <c:pt idx="4">
                  <c:v>146</c:v>
                </c:pt>
                <c:pt idx="5">
                  <c:v>50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Stage 2</c:v>
                </c:pt>
              </c:strCache>
            </c:strRef>
          </c:tx>
          <c:spPr>
            <a:solidFill>
              <a:srgbClr val="3B8BD4"/>
            </a:solidFill>
            <a:ln w="25400" cap="flat">
              <a:solidFill>
                <a:srgbClr val="3B8B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3B8BD4"/>
              </a:solidFill>
              <a:ln w="9525" cap="flat">
                <a:solidFill>
                  <a:srgbClr val="3B8B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  <c:pt idx="6">
                    <c:v>30%</c:v>
                  </c:pt>
                  <c:pt idx="7">
                    <c:v>40%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279</c:v>
                </c:pt>
                <c:pt idx="2">
                  <c:v>79</c:v>
                </c:pt>
                <c:pt idx="3">
                  <c:v>125</c:v>
                </c:pt>
                <c:pt idx="4">
                  <c:v>5</c:v>
                </c:pt>
                <c:pt idx="5">
                  <c:v>24</c:v>
                </c:pt>
                <c:pt idx="6">
                  <c:v>0</c:v>
                </c:pt>
                <c:pt idx="7">
                  <c:v>0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Stage 3</c:v>
                </c:pt>
              </c:strCache>
            </c:strRef>
          </c:tx>
          <c:spPr>
            <a:solidFill>
              <a:srgbClr val="1D9E75"/>
            </a:solidFill>
            <a:ln w="25400" cap="flat">
              <a:solidFill>
                <a:srgbClr val="1D9E7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  <c:pt idx="6">
                    <c:v>30%</c:v>
                  </c:pt>
                  <c:pt idx="7">
                    <c:v>40%</c:v>
                  </c:pt>
                </c:lvl>
              </c:multiLvlStrCache>
            </c:multiLvl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0</c:v>
                </c:pt>
                <c:pt idx="1">
                  <c:v>51</c:v>
                </c:pt>
                <c:pt idx="2">
                  <c:v>337</c:v>
                </c:pt>
                <c:pt idx="3">
                  <c:v>303</c:v>
                </c:pt>
                <c:pt idx="4">
                  <c:v>508</c:v>
                </c:pt>
                <c:pt idx="5">
                  <c:v>496</c:v>
                </c:pt>
                <c:pt idx="6">
                  <c:v>415</c:v>
                </c:pt>
                <c:pt idx="7">
                  <c:v>199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Stage 4</c:v>
                </c:pt>
              </c:strCache>
            </c:strRef>
          </c:tx>
          <c:spPr>
            <a:solidFill>
              <a:srgbClr val="EF9F27"/>
            </a:solidFill>
            <a:ln w="25400" cap="flat">
              <a:solidFill>
                <a:srgbClr val="EF9F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F9F27"/>
              </a:solidFill>
              <a:ln w="9525" cap="flat">
                <a:solidFill>
                  <a:srgbClr val="EF9F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0%</c:v>
                  </c:pt>
                  <c:pt idx="1">
                    <c:v>5%</c:v>
                  </c:pt>
                  <c:pt idx="2">
                    <c:v>10%</c:v>
                  </c:pt>
                  <c:pt idx="3">
                    <c:v>15%</c:v>
                  </c:pt>
                  <c:pt idx="4">
                    <c:v>20%</c:v>
                  </c:pt>
                  <c:pt idx="5">
                    <c:v>25%</c:v>
                  </c:pt>
                  <c:pt idx="6">
                    <c:v>30%</c:v>
                  </c:pt>
                  <c:pt idx="7">
                    <c:v>40%</c:v>
                  </c:pt>
                </c:lvl>
              </c:multiLvlStrCache>
            </c:multiLvlStrRef>
          </c:cat>
          <c:val>
            <c:numRef>
              <c:f>Sheet1!$E$2:$E$9</c:f>
              <c:numCache>
                <c:formatCode>General</c:formatCode>
                <c:ptCount val="8"/>
                <c:pt idx="0">
                  <c:v>0</c:v>
                </c:pt>
                <c:pt idx="1">
                  <c:v>66</c:v>
                </c:pt>
                <c:pt idx="2">
                  <c:v>346</c:v>
                </c:pt>
                <c:pt idx="3">
                  <c:v>286</c:v>
                </c:pt>
                <c:pt idx="4">
                  <c:v>599</c:v>
                </c:pt>
                <c:pt idx="5">
                  <c:v>583</c:v>
                </c:pt>
                <c:pt idx="6">
                  <c:v>641</c:v>
                </c:pt>
                <c:pt idx="7">
                  <c:v>615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1A233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64008"/>
            <a:ext cx="2926080" cy="5079492"/>
          </a:xfrm>
          <a:prstGeom prst="rect">
            <a:avLst/>
          </a:prstGeom>
          <a:solidFill>
            <a:srgbClr val="002D5C"/>
          </a:solidFill>
          <a:ln w="12700">
            <a:solidFill>
              <a:srgbClr val="002D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457200"/>
            <a:ext cx="2011680" cy="2011680"/>
          </a:xfrm>
          <a:prstGeom prst="ellipse">
            <a:avLst/>
          </a:prstGeom>
          <a:solidFill>
            <a:srgbClr val="EF7C00">
              <a:alpha val="20000"/>
            </a:srgbClr>
          </a:solidFill>
          <a:ln w="25400">
            <a:solidFill>
              <a:srgbClr val="EF7C00">
                <a:alpha val="5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2743200"/>
            <a:ext cx="1280160" cy="1280160"/>
          </a:xfrm>
          <a:prstGeom prst="ellipse">
            <a:avLst/>
          </a:prstGeom>
          <a:solidFill>
            <a:srgbClr val="EF7C00">
              <a:alpha val="30000"/>
            </a:srgbClr>
          </a:solidFill>
          <a:ln w="12700">
            <a:solidFill>
              <a:srgbClr val="EF7C00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0" y="210312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6400800" y="2926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EF7C00"/>
                </a:solidFill>
              </a:rPr>
              <a:t>Mechanical Engineering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4572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F7C00"/>
                </a:solidFill>
              </a:rPr>
              <a:t>ME5400A PROJECT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777240"/>
            <a:ext cx="539496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Braitenberg-Based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Pursuit Behaviour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Cluttered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Surveillance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Environments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4389120" cy="36576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3075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Shridhar Iyer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005072"/>
            <a:ext cx="53035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DB8D8"/>
                </a:solidFill>
              </a:rPr>
              <a:t>A0329367R  ·  Department of Mechanical Engineering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F40"/>
          </a:solidFill>
          <a:ln w="12700">
            <a:solidFill>
              <a:srgbClr val="001F4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919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DB8D8"/>
                </a:solidFill>
              </a:rPr>
              <a:t>National University of Singapore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502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F7C00"/>
                </a:solidFill>
              </a:rPr>
              <a:t>INTRODUCTION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Research Question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ME5400A · National University of Singapore · Shridhar Iyer (A0329367R)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6583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20040" y="969264"/>
            <a:ext cx="4023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</a:rPr>
              <a:t>Autonomous surveillance robots must pursue intruders in real environments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</a:rPr>
              <a:t>Cluttered spaces (offices, warehouses) require reactive obstacle avoidance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</a:rPr>
              <a:t>Fixed-weight reactive controllers degrade severely with obstacle density</a:t>
            </a:r>
            <a:endParaRPr lang="en-US" sz="105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50" dirty="0">
                <a:solidFill>
                  <a:srgbClr val="1A2332"/>
                </a:solidFill>
              </a:rPr>
              <a:t>Deliberative planning introduces unacceptable latency for pursuit tasks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423160"/>
            <a:ext cx="4023360" cy="8686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11480" y="2487168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EF7C00"/>
                </a:solidFill>
              </a:rPr>
              <a:t>Research Question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71576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FFFFFF"/>
                </a:solidFill>
              </a:rPr>
              <a:t>How does obstacle density affect a Braitenberg pursuit controller, and can kinematic improvements + RL weight adaptation recover lost performance?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65836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Objectives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024128"/>
            <a:ext cx="347472" cy="347472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02412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285232" y="1024128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7C"/>
                </a:solidFill>
              </a:rPr>
              <a:t>Characterise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85232" y="1261872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</a:rPr>
              <a:t>Quantify how obstacle density degrades pure reactive pursuit performance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011680"/>
            <a:ext cx="347472" cy="347472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01168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85232" y="201168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7C"/>
                </a:solidFill>
              </a:rPr>
              <a:t>Identify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85232" y="2249424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</a:rPr>
              <a:t>Diagnose the dominant failure modes: stalling vs. thrashing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2999232"/>
            <a:ext cx="347472" cy="347472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992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iii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285232" y="299923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7C"/>
                </a:solidFill>
              </a:rPr>
              <a:t>Evaluate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85232" y="3236976"/>
            <a:ext cx="33832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32"/>
                </a:solidFill>
              </a:rPr>
              <a:t>Test whether kinematic improvements + RL weight adaptation can recover performance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502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F7C00"/>
                </a:solidFill>
              </a:rPr>
              <a:t>SYSTEM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Four-Stage Experimental Pipeline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ME5400A · National University of Singapore · Shridhar Iyer (A0329367R)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084832" y="2377440"/>
            <a:ext cx="3200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open"/>
          </a:ln>
        </p:spPr>
      </p:sp>
      <p:sp>
        <p:nvSpPr>
          <p:cNvPr id="10" name="Shape 8"/>
          <p:cNvSpPr/>
          <p:nvPr/>
        </p:nvSpPr>
        <p:spPr>
          <a:xfrm>
            <a:off x="274320" y="640080"/>
            <a:ext cx="192024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640080"/>
            <a:ext cx="1920240" cy="5943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502920"/>
            <a:ext cx="777240" cy="777240"/>
          </a:xfrm>
          <a:prstGeom prst="ellipse">
            <a:avLst/>
          </a:prstGeom>
          <a:solidFill>
            <a:srgbClr val="E24B4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1248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" y="1261872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24B4A"/>
                </a:solidFill>
              </a:rPr>
              <a:t>Pure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24B4A"/>
                </a:solidFill>
              </a:rPr>
              <a:t>Braitenberg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5760" y="190195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Original base,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fixed weights α, β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2542032"/>
            <a:ext cx="1645920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33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Tests: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04672" y="263347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Baseline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261104" y="2377440"/>
            <a:ext cx="3200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open"/>
          </a:ln>
        </p:spPr>
      </p:sp>
      <p:sp>
        <p:nvSpPr>
          <p:cNvPr id="20" name="Shape 18"/>
          <p:cNvSpPr/>
          <p:nvPr/>
        </p:nvSpPr>
        <p:spPr>
          <a:xfrm>
            <a:off x="2450592" y="640080"/>
            <a:ext cx="192024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450592" y="640080"/>
            <a:ext cx="1920240" cy="594360"/>
          </a:xfrm>
          <a:prstGeom prst="rect">
            <a:avLst/>
          </a:prstGeom>
          <a:solidFill>
            <a:srgbClr val="3B8BD4"/>
          </a:solidFill>
          <a:ln w="12700">
            <a:solidFill>
              <a:srgbClr val="3B8B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17520" y="502920"/>
            <a:ext cx="777240" cy="777240"/>
          </a:xfrm>
          <a:prstGeom prst="ellipse">
            <a:avLst/>
          </a:prstGeom>
          <a:solidFill>
            <a:srgbClr val="3B8B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17520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2523744" y="1261872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B8BD4"/>
                </a:solidFill>
              </a:rPr>
              <a:t>RL Adaptive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3B8BD4"/>
                </a:solidFill>
              </a:rPr>
              <a:t>Weights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542032" y="190195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Original base,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RL-adapted α, β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587752" y="2542032"/>
            <a:ext cx="1645920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2633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Tests: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980944" y="263347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RL on original base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37376" y="2377440"/>
            <a:ext cx="32004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open"/>
          </a:ln>
        </p:spPr>
      </p:sp>
      <p:sp>
        <p:nvSpPr>
          <p:cNvPr id="30" name="Shape 28"/>
          <p:cNvSpPr/>
          <p:nvPr/>
        </p:nvSpPr>
        <p:spPr>
          <a:xfrm>
            <a:off x="4626864" y="640080"/>
            <a:ext cx="192024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26864" y="640080"/>
            <a:ext cx="1920240" cy="5943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93792" y="502920"/>
            <a:ext cx="777240" cy="777240"/>
          </a:xfrm>
          <a:prstGeom prst="ellipse">
            <a:avLst/>
          </a:prstGeom>
          <a:solidFill>
            <a:srgbClr val="1D9E75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93792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700016" y="1261872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9E75"/>
                </a:solidFill>
              </a:rPr>
              <a:t>Improved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1D9E75"/>
                </a:solidFill>
              </a:rPr>
              <a:t>+ RL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718304" y="190195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Improved base,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RL-adapted α, β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764024" y="2542032"/>
            <a:ext cx="1645920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18304" y="2633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Tests: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157216" y="263347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Kinematics + RL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803136" y="640080"/>
            <a:ext cx="1920240" cy="347472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803136" y="640080"/>
            <a:ext cx="1920240" cy="594360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370064" y="502920"/>
            <a:ext cx="777240" cy="777240"/>
          </a:xfrm>
          <a:prstGeom prst="ellipse">
            <a:avLst/>
          </a:prstGeom>
          <a:solidFill>
            <a:srgbClr val="EF9F27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70064" y="5029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6876288" y="1261872"/>
            <a:ext cx="1773936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F9F27"/>
                </a:solidFill>
              </a:rPr>
              <a:t>Improved,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EF9F27"/>
                </a:solidFill>
              </a:rPr>
              <a:t>No RL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6894576" y="1901952"/>
            <a:ext cx="1737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Improved base,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fixed weights</a:t>
            </a:r>
            <a:endParaRPr lang="en-US" sz="95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(ablation)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940296" y="2542032"/>
            <a:ext cx="1645920" cy="27432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894576" y="263347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332"/>
                </a:solidFill>
              </a:rPr>
              <a:t>Tests: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33488" y="263347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Ablation control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74320" y="4224528"/>
            <a:ext cx="8595360" cy="566928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4279392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003D7C"/>
                </a:solidFill>
              </a:rPr>
              <a:t>2×2 Design: Stages 1 &amp; 2 use the original Braitenberg base  ·  Stages 3 &amp; 4 use the improved base  ·  Stages 2 &amp; 3 add RL weight adaptation  ·  Stage 4 is the key ablation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502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F7C00"/>
                </a:solidFill>
              </a:rPr>
              <a:t>EXPERIMENTAL DESIGN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Environment &amp; Experimental Design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ME5400A · National University of Singapore · Shridhar Iyer (A0329367R)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658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C"/>
                </a:solidFill>
              </a:rPr>
              <a:t>Simulation Platform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987552"/>
            <a:ext cx="1188720" cy="347472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98755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Arena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572768" y="100584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800×800 px  ≈  8×8 m (building lobby / open office)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481328"/>
            <a:ext cx="1188720" cy="347472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481328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Robot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572768" y="1499616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Radius 10 px (~20 cm) — TurtleBot3 class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1975104"/>
            <a:ext cx="1188720" cy="347472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1975104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Intruder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572768" y="1993392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Radius 15 px (~30 cm) — adult cross-section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468880"/>
            <a:ext cx="1188720" cy="347472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2468880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Obstacles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572768" y="2487168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Circular, r = 15–30 px (columns, bins, furniture)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2962656"/>
            <a:ext cx="1188720" cy="347472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2962656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Sensors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572768" y="2980944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8 IR proximity sensors (e-puck layout) + PIR target sensor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456432"/>
            <a:ext cx="1188720" cy="347472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20040" y="3456432"/>
            <a:ext cx="1188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Speed ratio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72768" y="3474720"/>
            <a:ext cx="2697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Robot 2.0 px/step  ÷  Intruder 1.5 px/step  = 1.33×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663440" y="658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C"/>
                </a:solidFill>
              </a:rPr>
              <a:t>Experimental Protocol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663440" y="969264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7C"/>
                </a:solidFill>
              </a:rPr>
              <a:t>8 Density Levels: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1325880"/>
            <a:ext cx="137160" cy="219456"/>
          </a:xfrm>
          <a:prstGeom prst="rect">
            <a:avLst/>
          </a:prstGeom>
          <a:solidFill>
            <a:srgbClr val="003D7C">
              <a:alpha val="30000"/>
            </a:srgbClr>
          </a:solidFill>
          <a:ln w="12700">
            <a:solidFill>
              <a:srgbClr val="003D7C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0%  Empty corridor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746504"/>
            <a:ext cx="285750" cy="219456"/>
          </a:xfrm>
          <a:prstGeom prst="rect">
            <a:avLst/>
          </a:prstGeom>
          <a:solidFill>
            <a:srgbClr val="003D7C">
              <a:alpha val="30000"/>
            </a:srgbClr>
          </a:solidFill>
          <a:ln w="12700">
            <a:solidFill>
              <a:srgbClr val="003D7C">
                <a:alpha val="5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65506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5%  Sparse office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2167128"/>
            <a:ext cx="434340" cy="219456"/>
          </a:xfrm>
          <a:prstGeom prst="rect">
            <a:avLst/>
          </a:prstGeom>
          <a:solidFill>
            <a:srgbClr val="003D7C">
              <a:alpha val="30000"/>
            </a:srgbClr>
          </a:solidFill>
          <a:ln w="12700">
            <a:solidFill>
              <a:srgbClr val="003D7C">
                <a:alpha val="5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09160" y="20756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10%  Furnished office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663440" y="2587752"/>
            <a:ext cx="582930" cy="219456"/>
          </a:xfrm>
          <a:prstGeom prst="rect">
            <a:avLst/>
          </a:prstGeom>
          <a:solidFill>
            <a:srgbClr val="003D7C">
              <a:alpha val="30000"/>
            </a:srgbClr>
          </a:solidFill>
          <a:ln w="12700">
            <a:solidFill>
              <a:srgbClr val="003D7C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09160" y="24963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15%  Mixed floor plan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675120" y="1325880"/>
            <a:ext cx="731520" cy="219456"/>
          </a:xfrm>
          <a:prstGeom prst="rect">
            <a:avLst/>
          </a:prstGeom>
          <a:solidFill>
            <a:srgbClr val="003D7C">
              <a:alpha val="30000"/>
            </a:srgbClr>
          </a:solidFill>
          <a:ln w="12700">
            <a:solidFill>
              <a:srgbClr val="003D7C">
                <a:alpha val="5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20840" y="1234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20%  Warehouse floor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675120" y="1746504"/>
            <a:ext cx="880110" cy="219456"/>
          </a:xfrm>
          <a:prstGeom prst="rect">
            <a:avLst/>
          </a:prstGeom>
          <a:solidFill>
            <a:srgbClr val="003D7C">
              <a:alpha val="30000"/>
            </a:srgbClr>
          </a:solidFill>
          <a:ln w="12700">
            <a:solidFill>
              <a:srgbClr val="003D7C">
                <a:alpha val="5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20840" y="165506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25%  Dense warehouse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675120" y="2167128"/>
            <a:ext cx="1028700" cy="219456"/>
          </a:xfrm>
          <a:prstGeom prst="rect">
            <a:avLst/>
          </a:prstGeom>
          <a:solidFill>
            <a:srgbClr val="003D7C">
              <a:alpha val="30000"/>
            </a:srgbClr>
          </a:solidFill>
          <a:ln w="12700">
            <a:solidFill>
              <a:srgbClr val="003D7C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20840" y="20756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30%  Industrial space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675120" y="2587752"/>
            <a:ext cx="1325880" cy="219456"/>
          </a:xfrm>
          <a:prstGeom prst="rect">
            <a:avLst/>
          </a:prstGeom>
          <a:solidFill>
            <a:srgbClr val="003D7C">
              <a:alpha val="30000"/>
            </a:srgbClr>
          </a:solidFill>
          <a:ln w="12700">
            <a:solidFill>
              <a:srgbClr val="003D7C">
                <a:alpha val="5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20840" y="249631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40%  Stress test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663440" y="3246120"/>
            <a:ext cx="868680" cy="8686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4709160" y="3319272"/>
            <a:ext cx="77724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48" name="Text 46"/>
          <p:cNvSpPr/>
          <p:nvPr/>
        </p:nvSpPr>
        <p:spPr>
          <a:xfrm>
            <a:off x="4709160" y="3749954"/>
            <a:ext cx="77724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Layouts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per density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669280" y="3246120"/>
            <a:ext cx="868680" cy="8686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5715000" y="3319272"/>
            <a:ext cx="77724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51" name="Text 49"/>
          <p:cNvSpPr/>
          <p:nvPr/>
        </p:nvSpPr>
        <p:spPr>
          <a:xfrm>
            <a:off x="5715000" y="3749954"/>
            <a:ext cx="77724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Trials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per layout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675120" y="3246120"/>
            <a:ext cx="868680" cy="86868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6720840" y="3319272"/>
            <a:ext cx="77724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800" dirty="0"/>
          </a:p>
        </p:txBody>
      </p:sp>
      <p:sp>
        <p:nvSpPr>
          <p:cNvPr id="54" name="Text 52"/>
          <p:cNvSpPr/>
          <p:nvPr/>
        </p:nvSpPr>
        <p:spPr>
          <a:xfrm>
            <a:off x="6720840" y="3749954"/>
            <a:ext cx="77724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Trials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per density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7680960" y="3246120"/>
            <a:ext cx="868680" cy="868680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726680" y="3319272"/>
            <a:ext cx="777240" cy="4517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</a:t>
            </a:r>
            <a:endParaRPr lang="en-US" sz="2800" dirty="0"/>
          </a:p>
        </p:txBody>
      </p:sp>
      <p:sp>
        <p:nvSpPr>
          <p:cNvPr id="57" name="Text 55"/>
          <p:cNvSpPr/>
          <p:nvPr/>
        </p:nvSpPr>
        <p:spPr>
          <a:xfrm>
            <a:off x="7726680" y="3749954"/>
            <a:ext cx="777240" cy="3300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Total trials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per controller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4663440" y="42062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Same seeds &amp; layouts used for all 4 controllers — direct comparison guaranteed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502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F7C00"/>
                </a:solidFill>
              </a:rPr>
              <a:t>SYSTEM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Architectures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ME5400A · National University of Singapore · Shridhar Iyer (A0329367R)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640080"/>
            <a:ext cx="3931920" cy="4114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640080"/>
            <a:ext cx="3931920" cy="438912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658368"/>
            <a:ext cx="3749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Stage 1 — Pure Braitenberg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11480" y="117043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4B4A"/>
                </a:solidFill>
              </a:rPr>
              <a:t>Pursuit channel: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137160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Vehicle 2b (excitatory, crossed): target sensor → opposite motor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182880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4B4A"/>
                </a:solidFill>
              </a:rPr>
              <a:t>Avoidance channel: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11480" y="20299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Vehicle 3a (inhibitory): max proximity per hemisphere → suppress opposite motor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248716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4B4A"/>
                </a:solidFill>
              </a:rPr>
              <a:t>Motor clamp: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68833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v ∈ [0, v_max], negative values clipped to 0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3145536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4B4A"/>
                </a:solidFill>
              </a:rPr>
              <a:t>Parameters: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11480" y="33467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α = 1.0 (pursuit),  β = 1.2 (avoidance),  fixed throughout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11480" y="3803904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24B4A"/>
                </a:solidFill>
              </a:rPr>
              <a:t>Failure mode: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11480" y="4005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Stalls above 20% density — avoidance clips both motors to 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640080"/>
            <a:ext cx="4206240" cy="4114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640080"/>
            <a:ext cx="4206240" cy="43891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658368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Improved Base (Stages 3 &amp; 4)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73168" y="1170432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Cosine-weighted avoidance: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73168" y="137160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All 8 sensors contribute: w_i = max(0, cos φ_i) + 0.3 — smoother turns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73168" y="1828800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Forward bias: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73168" y="202996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b_f = 0.15 px/step added to both motors — prevents stalling when target unseen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73168" y="2487168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Centre-mean motor floor: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73168" y="2688336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If (v_L + v_R)/2 &lt; 0.2, raise both motors — allows asymmetric turns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73168" y="3145536"/>
            <a:ext cx="4023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Stuck recovery: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73168" y="3346704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If displaced &lt; 8 px in 50 steps → 15-step reverse-turn escape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63440" y="4462272"/>
            <a:ext cx="4206240" cy="274320"/>
          </a:xfrm>
          <a:prstGeom prst="rect">
            <a:avLst/>
          </a:prstGeom>
          <a:solidFill>
            <a:srgbClr val="E8F5E9"/>
          </a:solidFill>
          <a:ln w="12700">
            <a:solidFill>
              <a:srgbClr val="1D9E75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4480560"/>
            <a:ext cx="4023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1D9E75"/>
                </a:solidFill>
              </a:rPr>
              <a:t>Stage 4 uses fixed α=1.0, β=1.2  ·  Stage 3 adds RL weight adaptation on top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502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F7C00"/>
                </a:solidFill>
              </a:rPr>
              <a:t>SYSTEM ARCHITECTURE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Weight Adaptation (Stages 2 &amp; 3)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ME5400A · National University of Singapore · Shridhar Iyer (A0329367R)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658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C"/>
                </a:solidFill>
              </a:rPr>
              <a:t>Policy Architecture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005840"/>
            <a:ext cx="3931920" cy="566928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058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Observation  o_t  (dim = 12)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0040" y="128016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CE0FF"/>
                </a:solidFill>
              </a:rPr>
              <a:t>[p₁…p₈, s_L, s_R, d̂_t, θ̂_t]  —  8 proximity + 2 target sensors + normalised distance &amp; bearing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0" y="1591056"/>
            <a:ext cx="0" cy="2286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open"/>
          </a:ln>
        </p:spPr>
      </p:sp>
      <p:sp>
        <p:nvSpPr>
          <p:cNvPr id="14" name="Shape 12"/>
          <p:cNvSpPr/>
          <p:nvPr/>
        </p:nvSpPr>
        <p:spPr>
          <a:xfrm>
            <a:off x="320040" y="1828800"/>
            <a:ext cx="3931920" cy="1005840"/>
          </a:xfrm>
          <a:prstGeom prst="rect">
            <a:avLst/>
          </a:prstGeom>
          <a:solidFill>
            <a:srgbClr val="EEF2FF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187452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7C"/>
                </a:solidFill>
              </a:rPr>
              <a:t>Shared Trunk  →  Actor + Critic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2148840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32"/>
                </a:solidFill>
              </a:rPr>
              <a:t>Linear(12→32) + ReLU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2359152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Actor: Linear(32→2) → tanh × 0.5  →  (Δα, Δβ)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578608"/>
            <a:ext cx="3749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B8BD4"/>
                </a:solidFill>
              </a:rPr>
              <a:t>Critic: Linear(32→1)  →  V(s_t)  (baseline)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286000" y="2852928"/>
            <a:ext cx="0" cy="22860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open"/>
          </a:ln>
        </p:spPr>
      </p:sp>
      <p:sp>
        <p:nvSpPr>
          <p:cNvPr id="20" name="Shape 18"/>
          <p:cNvSpPr/>
          <p:nvPr/>
        </p:nvSpPr>
        <p:spPr>
          <a:xfrm>
            <a:off x="320040" y="3090672"/>
            <a:ext cx="3931920" cy="50292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090672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α_t = 1.0 + Δα   ∈ [0.1, 2.5]      β_t = 1.2 + Δβ   ∈ [0.1, 2.5]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658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D7C"/>
                </a:solidFill>
              </a:rPr>
              <a:t>Training — REINFORCE with Baseline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411480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005840"/>
            <a:ext cx="54864" cy="65836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91456" y="1060704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7C"/>
                </a:solidFill>
              </a:rPr>
              <a:t>Algorithm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791456" y="1280160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332"/>
                </a:solidFill>
              </a:rPr>
              <a:t>REINFORCE with baseline (Williams 1992)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332"/>
                </a:solidFill>
              </a:rPr>
              <a:t>All gradients computed analytically in NumPy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663440" y="1755648"/>
            <a:ext cx="411480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1755648"/>
            <a:ext cx="54864" cy="65836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91456" y="181051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7C"/>
                </a:solidFill>
              </a:rPr>
              <a:t>Reward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91456" y="2029968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332"/>
                </a:solidFill>
              </a:rPr>
              <a:t>r_t = −0.03·d̂ − 0.15·collided − 0.002 + 15·captured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663440" y="2505456"/>
            <a:ext cx="411480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2505456"/>
            <a:ext cx="54864" cy="65836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91456" y="256032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7C"/>
                </a:solidFill>
              </a:rPr>
              <a:t>Training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91456" y="2779776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332"/>
                </a:solidFill>
              </a:rPr>
              <a:t>2,000 episodes · max 2,000 steps/episode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332"/>
                </a:solidFill>
              </a:rPr>
              <a:t>Discount γ = 0.99 · Gradient clip = 1.0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63440" y="3255264"/>
            <a:ext cx="411480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255264"/>
            <a:ext cx="54864" cy="65836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91456" y="331012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7C"/>
                </a:solidFill>
              </a:rPr>
              <a:t>Curriculum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791456" y="3529584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332"/>
                </a:solidFill>
              </a:rPr>
              <a:t>Episodes 1–100: easy densities (0%, 5%, 10%)</a:t>
            </a:r>
            <a:endParaRPr lang="en-US" sz="9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332"/>
                </a:solidFill>
              </a:rPr>
              <a:t>Episode 101+: full range (0%–40%)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4005072"/>
            <a:ext cx="4114800" cy="65836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663440" y="4005072"/>
            <a:ext cx="54864" cy="65836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91456" y="4059936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3D7C"/>
                </a:solidFill>
              </a:rPr>
              <a:t>Learning rates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4791456" y="427939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1A2332"/>
                </a:solidFill>
              </a:rPr>
              <a:t>Actor: 5×10⁻⁴ · Critic: 1×10⁻³ · log σ: 1×10⁻⁴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502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F7C00"/>
                </a:solidFill>
              </a:rPr>
              <a:t>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Success Rate — All Four Controllers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ME5400A · National University of Singapore · Shridhar Iyer (A0329367R)</a:t>
            </a:r>
            <a:endParaRPr lang="en-US" sz="8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274320" y="594360"/>
          <a:ext cx="621792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/>
          <p:nvPr/>
        </p:nvSpPr>
        <p:spPr>
          <a:xfrm>
            <a:off x="6629400" y="64008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3D7C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629400" y="987552"/>
            <a:ext cx="224028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9400" y="987552"/>
            <a:ext cx="54864" cy="749808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48272" y="1060704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32"/>
                </a:solidFill>
              </a:rPr>
              <a:t>Stage 1 fails at 25% — collapses from 60%→0% in two density steps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6629400" y="1856232"/>
            <a:ext cx="224028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629400" y="1856232"/>
            <a:ext cx="54864" cy="749808"/>
          </a:xfrm>
          <a:prstGeom prst="rect">
            <a:avLst/>
          </a:prstGeom>
          <a:solidFill>
            <a:srgbClr val="3B8BD4"/>
          </a:solidFill>
          <a:ln w="12700">
            <a:solidFill>
              <a:srgbClr val="3B8B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48272" y="1929384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32"/>
                </a:solidFill>
              </a:rPr>
              <a:t>Stage 2 ≤ Stage 1 at every density — RL adds no value on original base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629400" y="2724912"/>
            <a:ext cx="224028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629400" y="2724912"/>
            <a:ext cx="54864" cy="7498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748272" y="2798064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32"/>
                </a:solidFill>
              </a:rPr>
              <a:t>Stage 3: 80% at 15–20%, 20% at 25% — significantly extends range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6629400" y="3593592"/>
            <a:ext cx="2240280" cy="749808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629400" y="3593592"/>
            <a:ext cx="54864" cy="749808"/>
          </a:xfrm>
          <a:prstGeom prst="rect">
            <a:avLst/>
          </a:prstGeom>
          <a:solidFill>
            <a:srgbClr val="EF9F27"/>
          </a:solidFill>
          <a:ln w="12700">
            <a:solidFill>
              <a:srgbClr val="EF9F2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48272" y="3666744"/>
            <a:ext cx="2057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1A2332"/>
                </a:solidFill>
              </a:rPr>
              <a:t>Stage 4 equals or beats Stage 3 on capture rate at every density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502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F7C00"/>
                </a:solidFill>
              </a:rPr>
              <a:t>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Capture Time &amp; Collision Count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ME5400A · National University of Singapore · Shridhar Iyer (A0329367R)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74320" y="621792"/>
            <a:ext cx="4297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7C"/>
                </a:solidFill>
              </a:rPr>
              <a:t>Mean Capture Time (steps)</a:t>
            </a:r>
            <a:endParaRPr lang="en-US" sz="10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274320" y="868680"/>
          <a:ext cx="42976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1581912"/>
            <a:ext cx="4297680" cy="0"/>
          </a:xfrm>
          <a:prstGeom prst="line">
            <a:avLst/>
          </a:prstGeom>
          <a:noFill/>
          <a:ln w="12700">
            <a:solidFill>
              <a:srgbClr val="6B7280"/>
            </a:solidFill>
            <a:prstDash val="dash"/>
          </a:ln>
        </p:spPr>
      </p:sp>
      <p:sp>
        <p:nvSpPr>
          <p:cNvPr id="12" name="Text 9"/>
          <p:cNvSpPr/>
          <p:nvPr/>
        </p:nvSpPr>
        <p:spPr>
          <a:xfrm>
            <a:off x="320040" y="1389888"/>
            <a:ext cx="1371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i="1" dirty="0">
                <a:solidFill>
                  <a:srgbClr val="6B7280"/>
                </a:solidFill>
              </a:rPr>
              <a:t>timeout = 4000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4709160" y="621792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3D7C"/>
                </a:solidFill>
              </a:rPr>
              <a:t>Mean Collision Count (steps)</a:t>
            </a:r>
            <a:endParaRPr lang="en-US" sz="1000" dirty="0"/>
          </a:p>
        </p:txBody>
      </p:sp>
      <p:graphicFrame>
        <p:nvGraphicFramePr>
          <p:cNvPr id="14" name="Chart 1" descr=""/>
          <p:cNvGraphicFramePr/>
          <p:nvPr/>
        </p:nvGraphicFramePr>
        <p:xfrm>
          <a:off x="4709160" y="868680"/>
          <a:ext cx="4160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096512"/>
            <a:ext cx="8595360" cy="594360"/>
          </a:xfrm>
          <a:prstGeom prst="rect">
            <a:avLst/>
          </a:prstGeom>
          <a:solidFill>
            <a:srgbClr val="FFF7ED"/>
          </a:solidFill>
          <a:ln w="12700">
            <a:solidFill>
              <a:srgbClr val="EF7C00">
                <a:alpha val="6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57200" y="4133088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32"/>
                </a:solidFill>
              </a:rPr>
              <a:t>Insight: Stage 3 &amp; 4 capture faster than Stage 1 &amp; 2 up to 25% density. Collision cost is real — Stage 4 peaks at 641 steps at 30% vs Stage 3's 415 steps — but this is the price of not stalling.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502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F7C00"/>
                </a:solidFill>
              </a:rPr>
              <a:t>RESULTS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Summary — All Four Stages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ME5400A · National University of Singapore · Shridhar Iyer (A0329367R)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621792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</a:rPr>
              <a:t>Capture Rate (%)  ·  Mean Capture Step  ·  Mean Collision Steps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896112"/>
          <a:ext cx="8595360" cy="3749040"/>
        </p:xfrm>
        <a:graphic>
          <a:graphicData uri="http://schemas.openxmlformats.org/drawingml/2006/table">
            <a:tbl>
              <a:tblPr/>
              <a:tblGrid>
                <a:gridCol w="548640"/>
                <a:gridCol w="713232"/>
                <a:gridCol w="713232"/>
                <a:gridCol w="713232"/>
                <a:gridCol w="713232"/>
                <a:gridCol w="777240"/>
                <a:gridCol w="777240"/>
                <a:gridCol w="777240"/>
                <a:gridCol w="777240"/>
                <a:gridCol w="777240"/>
              </a:tblGrid>
              <a:tr h="416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S2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Rate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S1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Steps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S3 Coll.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S4 Coll.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D7C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B4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1454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B4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1853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B4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3277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1816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7B4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3902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3314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3044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496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65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1A2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274320" y="4663440"/>
            <a:ext cx="182880" cy="128016"/>
          </a:xfrm>
          <a:prstGeom prst="rect">
            <a:avLst/>
          </a:prstGeom>
          <a:solidFill>
            <a:srgbClr val="FFF3CD"/>
          </a:solidFill>
          <a:ln w="12700">
            <a:solidFill>
              <a:srgbClr val="7B4F00">
                <a:alpha val="6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12064" y="463600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Stage 4 capture rate ≥ Stage 3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502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F7C00"/>
                </a:solidFill>
              </a:rPr>
              <a:t>DISCUSSION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 Analysis — Stage 1 Baseline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ME5400A · National University of Singapore · Shridhar Iyer (A0329367R)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658368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C"/>
                </a:solidFill>
              </a:rPr>
              <a:t>Stage 1 undergoes a two-phase failure: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" y="987552"/>
            <a:ext cx="397764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987552"/>
            <a:ext cx="3977640" cy="457200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005840"/>
            <a:ext cx="38404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1: THRASHING  (5%–15% density)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8912" y="1536192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Robot still mobile — avoidance channel fires repeatedly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8912" y="1993392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Collision count RISES — peaks at 429 steps at 15% density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912" y="2450592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Oscillatory heading changes as robot bounces between obstacles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2907792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Success rate declining but non-zero: 60% at 10%, 35% at 15%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3364992"/>
            <a:ext cx="37947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Root cause: max-per-hemisphere aggregation creates hard avoidance jerks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17720" y="987552"/>
            <a:ext cx="4206240" cy="320040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17720" y="987552"/>
            <a:ext cx="4206240" cy="4572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81728" y="1005840"/>
            <a:ext cx="4069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Phase 2: STALLING  (&gt;20% density)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36592" y="153619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Max-per-hemisphere avoidance clips BOTH motors to zero simultaneously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36592" y="199339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Robot is pinned in place — no forward movement possible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36592" y="245059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Collision count DROPS (stalled robot hits nothing)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736592" y="290779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Success rate collapses: 10% at 20%, 0% at 25%+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736592" y="3364992"/>
            <a:ext cx="3977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000" dirty="0">
                <a:solidFill>
                  <a:srgbClr val="1A2332"/>
                </a:solidFill>
              </a:rPr>
              <a:t>This structural failure cannot be fixed by adjusting α and β — motivates Stage 3 kinematics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297680"/>
            <a:ext cx="8503920" cy="420624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315968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Thrashing (5–15%)  →  Critical transition (15–20%)  →  Complete stalling (&gt;20%)  —  Non-monotonic collision curve is the diagnostic signature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217920" y="50292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F7C00"/>
                </a:solidFill>
              </a:rPr>
              <a:t>DISCUSSION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20040" y="50292"/>
            <a:ext cx="5760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Ablation: Stage 3 vs Stage 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8ECF0"/>
          </a:solidFill>
          <a:ln w="12700">
            <a:solidFill>
              <a:srgbClr val="E8E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003D7C"/>
          </a:solidFill>
          <a:ln w="12700">
            <a:solidFill>
              <a:srgbClr val="003D7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19472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ME5400A · National University of Singapore · Shridhar Iyer (A0329367R)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20040" y="621792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</a:rPr>
              <a:t>Does the RL policy add value when the base controller is already well-designed?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9692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C"/>
                </a:solidFill>
              </a:rPr>
              <a:t>2 × 2 Design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0515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Original Base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880360" y="1051560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Improved Base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91440" y="1389888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Fixed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Weights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1440" y="2697480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Weights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14400" y="1298448"/>
            <a:ext cx="1828800" cy="1143000"/>
          </a:xfrm>
          <a:prstGeom prst="rect">
            <a:avLst/>
          </a:prstGeom>
          <a:solidFill>
            <a:srgbClr val="E24B4A">
              <a:alpha val="85000"/>
            </a:srgbClr>
          </a:solidFill>
          <a:ln w="25400">
            <a:solidFill>
              <a:srgbClr val="E24B4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987552" y="137160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4B4A"/>
                </a:solidFill>
              </a:rPr>
              <a:t>Stage 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1664208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32"/>
                </a:solidFill>
              </a:rPr>
              <a:t>Original + Fixed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32"/>
                </a:solidFill>
              </a:rPr>
              <a:t>✗ Fails &gt;20%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80360" y="1298448"/>
            <a:ext cx="1828800" cy="1143000"/>
          </a:xfrm>
          <a:prstGeom prst="rect">
            <a:avLst/>
          </a:prstGeom>
          <a:solidFill>
            <a:srgbClr val="3B8BD4">
              <a:alpha val="85000"/>
            </a:srgbClr>
          </a:solidFill>
          <a:ln w="25400">
            <a:solidFill>
              <a:srgbClr val="3B8BD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953512" y="137160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BD4"/>
                </a:solidFill>
              </a:rPr>
              <a:t>Stage 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953512" y="1664208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32"/>
                </a:solidFill>
              </a:rPr>
              <a:t>Original + RL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32"/>
                </a:solidFill>
              </a:rPr>
              <a:t>✗ No improvement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4400" y="2578608"/>
            <a:ext cx="1828800" cy="1143000"/>
          </a:xfrm>
          <a:prstGeom prst="rect">
            <a:avLst/>
          </a:prstGeom>
          <a:solidFill>
            <a:srgbClr val="EF9F27">
              <a:alpha val="85000"/>
            </a:srgbClr>
          </a:solidFill>
          <a:ln w="25400">
            <a:solidFill>
              <a:srgbClr val="EF9F27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87552" y="265176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9F27"/>
                </a:solidFill>
              </a:rPr>
              <a:t>Stage 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7552" y="2944368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32"/>
                </a:solidFill>
              </a:rPr>
              <a:t>Improved + Fixed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32"/>
                </a:solidFill>
              </a:rPr>
              <a:t>✓ Best capture rate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880360" y="2578608"/>
            <a:ext cx="1828800" cy="1143000"/>
          </a:xfrm>
          <a:prstGeom prst="rect">
            <a:avLst/>
          </a:prstGeom>
          <a:solidFill>
            <a:srgbClr val="1D9E75">
              <a:alpha val="85000"/>
            </a:srgbClr>
          </a:solidFill>
          <a:ln w="25400">
            <a:solidFill>
              <a:srgbClr val="1D9E7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2953512" y="265176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9E75"/>
                </a:solidFill>
              </a:rPr>
              <a:t>Stage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953512" y="2944368"/>
            <a:ext cx="168249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32"/>
                </a:solidFill>
              </a:rPr>
              <a:t>Improved + RL</a:t>
            </a:r>
            <a:endParaRPr lang="en-US" sz="9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32"/>
                </a:solidFill>
              </a:rPr>
              <a:t>✓ Fewer collisions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9692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3D7C"/>
                </a:solidFill>
              </a:rPr>
              <a:t>The Answer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29200" y="1298448"/>
            <a:ext cx="3840480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0" y="1298448"/>
            <a:ext cx="64008" cy="105156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1371600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4B4A"/>
                </a:solidFill>
              </a:rPr>
              <a:t>On capture rate: NO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66360" y="1627632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32"/>
                </a:solidFill>
              </a:rPr>
              <a:t>Stage 4 matches or beats Stage 3 at every density. 85% vs 80% at 10%, 90% vs 80% at 15%, 40% vs 20% at 25%. Kinematics alone are sufficient.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029200" y="2468880"/>
            <a:ext cx="3840480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0" y="2468880"/>
            <a:ext cx="64008" cy="1051560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66360" y="2542032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9E75"/>
                </a:solidFill>
              </a:rPr>
              <a:t>On collision count: YES (partially)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66360" y="2798064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32"/>
                </a:solidFill>
              </a:rPr>
              <a:t>Stage 3 incurs fewer collisions above 15% density. The RL collision penalty (λ_c=0.15) works — but only by making the robot more cautious, not better at pursuit.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29200" y="3639312"/>
            <a:ext cx="3840480" cy="1051560"/>
          </a:xfrm>
          <a:prstGeom prst="rect">
            <a:avLst/>
          </a:prstGeom>
          <a:solidFill>
            <a:srgbClr val="F5F7FA"/>
          </a:solidFill>
          <a:ln w="12700">
            <a:solidFill>
              <a:srgbClr val="E8EC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029200" y="3639312"/>
            <a:ext cx="64008" cy="1051560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66360" y="3712464"/>
            <a:ext cx="3611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7C00"/>
                </a:solidFill>
              </a:rPr>
              <a:t>Practical recommendation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66360" y="3968496"/>
            <a:ext cx="36118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1A2332"/>
                </a:solidFill>
              </a:rPr>
              <a:t>Use Stage 4 if capture rate is the objective. Use Stage 3 only if minimising physical obstacle contact is an independent requirement (e.g., hardware wear).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D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64008"/>
            <a:ext cx="2834640" cy="5079492"/>
          </a:xfrm>
          <a:prstGeom prst="rect">
            <a:avLst/>
          </a:prstGeom>
          <a:solidFill>
            <a:srgbClr val="002D5C"/>
          </a:solidFill>
          <a:ln w="12700">
            <a:solidFill>
              <a:srgbClr val="002D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0" y="365760"/>
            <a:ext cx="2286000" cy="2286000"/>
          </a:xfrm>
          <a:prstGeom prst="ellipse">
            <a:avLst/>
          </a:prstGeom>
          <a:solidFill>
            <a:srgbClr val="EF7C00">
              <a:alpha val="18000"/>
            </a:srgbClr>
          </a:solidFill>
          <a:ln w="19050">
            <a:solidFill>
              <a:srgbClr val="EF7C00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74320"/>
            <a:ext cx="5486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EF7C00"/>
                </a:solidFill>
              </a:rPr>
              <a:t>CONCLUSIONS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768096"/>
            <a:ext cx="475488" cy="47548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6809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75895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7C00"/>
                </a:solidFill>
              </a:rPr>
              <a:t>Fixed reactive control has a density threshold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60120" y="1024128"/>
            <a:ext cx="5074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E0FF"/>
                </a:solidFill>
              </a:rPr>
              <a:t>Stage 1 (pure Braitenberg) maintains 90–100% capture below 10% obstacle density but collapses to 0% at 25%, driven by a thrashing→stalling transition at 15–20%.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1728216"/>
            <a:ext cx="475488" cy="47548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72821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0120" y="171907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7C00"/>
                </a:solidFill>
              </a:rPr>
              <a:t>RL weight adaptation on the original base adds nothing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1984248"/>
            <a:ext cx="5074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E0FF"/>
                </a:solidFill>
              </a:rPr>
              <a:t>Stage 2 matches or underperforms Stage 1 at every density. REINFORCE converges to near-zero weight adjustments — parametric tuning cannot fix a structural kinematic failure.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65760" y="2688336"/>
            <a:ext cx="475488" cy="47548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883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60120" y="267919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7C00"/>
                </a:solidFill>
              </a:rPr>
              <a:t>Kinematic improvements are necessary and sufficient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60120" y="2944368"/>
            <a:ext cx="5074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E0FF"/>
                </a:solidFill>
              </a:rPr>
              <a:t>Stage 4 (improved base, fixed weights) extends the operating range to 85–90% at 10–15% and 40% at 25% — matching Stage 3 on capture rate at every density with no training.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65760" y="3648456"/>
            <a:ext cx="475488" cy="475488"/>
          </a:xfrm>
          <a:prstGeom prst="ellipse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64845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60120" y="3639312"/>
            <a:ext cx="5074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F7C00"/>
                </a:solidFill>
              </a:rPr>
              <a:t>RL's only measurable contribution is collision reduction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60120" y="3904488"/>
            <a:ext cx="5074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CE0FF"/>
                </a:solidFill>
              </a:rPr>
              <a:t>Stage 3's RL policy reduces collision steps at 30–40% density (199 vs 615 for Stage 4) by learning to be overly cautious — useful only if physical wear is an independent concern.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65760" y="4572000"/>
            <a:ext cx="5669280" cy="347472"/>
          </a:xfrm>
          <a:prstGeom prst="rect">
            <a:avLst/>
          </a:prstGeom>
          <a:solidFill>
            <a:srgbClr val="001F40"/>
          </a:solidFill>
          <a:ln w="12700">
            <a:solidFill>
              <a:srgbClr val="EF7C00">
                <a:alpha val="6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08576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8D8"/>
                </a:solidFill>
              </a:rPr>
              <a:t>Future: Physical TurtleBot3 validation  ·  Non-circular obstacles  ·  Evasive intruder  ·  Residual policy learning (heading correction)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01F40"/>
          </a:solidFill>
          <a:ln w="12700">
            <a:solidFill>
              <a:srgbClr val="001F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4892040"/>
            <a:ext cx="9144000" cy="36576"/>
          </a:xfrm>
          <a:prstGeom prst="rect">
            <a:avLst/>
          </a:prstGeom>
          <a:solidFill>
            <a:srgbClr val="EF7C00"/>
          </a:solidFill>
          <a:ln w="12700">
            <a:solidFill>
              <a:srgbClr val="EF7C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919472"/>
            <a:ext cx="8229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DB8D8"/>
                </a:solidFill>
              </a:rPr>
              <a:t>ME5400A · National University of Singapore · Shridhar Iyer (A0329367R)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Braitenberg-Based Pursuit in Cluttered Surveillance Environments</dc:title>
  <dc:subject>PptxGenJS Presentation</dc:subject>
  <dc:creator>Shridhar Iyer</dc:creator>
  <cp:lastModifiedBy>Shridhar Iyer</cp:lastModifiedBy>
  <cp:revision>1</cp:revision>
  <dcterms:created xsi:type="dcterms:W3CDTF">2026-04-09T10:21:39Z</dcterms:created>
  <dcterms:modified xsi:type="dcterms:W3CDTF">2026-04-09T10:21:39Z</dcterms:modified>
</cp:coreProperties>
</file>